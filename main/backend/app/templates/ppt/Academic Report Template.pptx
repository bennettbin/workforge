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16200" r:id="rId2"/>
  </p:sldIdLst>
  <p:sldSz cx="12192000" cy="6858000"/>
  <p:notesSz cx="6858000" cy="9144000"/>
  <p:custDataLst>
    <p:tags r:id="rId5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OPPOSans R"/>
        <a:ea typeface="OPPOSans R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OPPOSans R"/>
        <a:ea typeface="OPPOSans R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OPPOSans R"/>
        <a:ea typeface="OPPOSans R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OPPOSans R"/>
        <a:ea typeface="OPPOSans R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OPPOSans R"/>
        <a:ea typeface="OPPOSans R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OPPOSans R"/>
        <a:ea typeface="OPPOSans R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OPPOSans R"/>
        <a:ea typeface="OPPOSans R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OPPOSans R"/>
        <a:ea typeface="OPPOSans R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OPPOSans R"/>
        <a:ea typeface="OPPOSans R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06" userDrawn="1">
          <p15:clr>
            <a:srgbClr val="A4A3A4"/>
          </p15:clr>
        </p15:guide>
        <p15:guide id="2" orient="horz" pos="890" userDrawn="1">
          <p15:clr>
            <a:srgbClr val="A4A3A4"/>
          </p15:clr>
        </p15:guide>
        <p15:guide id="3" orient="horz" pos="3861" userDrawn="1">
          <p15:clr>
            <a:srgbClr val="A4A3A4"/>
          </p15:clr>
        </p15:guide>
        <p15:guide id="5" orient="horz" pos="1185" userDrawn="1">
          <p15:clr>
            <a:srgbClr val="A4A3A4"/>
          </p15:clr>
        </p15:guide>
        <p15:guide id="6" pos="717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ang chunhua" initials="T" lastIdx="5" clrIdx="0"/>
  <p:cmAuthor id="2" name="wanin" initials="w" lastIdx="1" clrIdx="1"/>
  <p:cmAuthor id="3" name="Lenovo" initials="L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  <a:srgbClr val="112E74"/>
    <a:srgbClr val="FFFFFF"/>
    <a:srgbClr val="C55A11"/>
    <a:srgbClr val="99CCFF"/>
    <a:srgbClr val="FF0000"/>
    <a:srgbClr val="FF9933"/>
    <a:srgbClr val="BEA761"/>
    <a:srgbClr val="F0F4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83"/>
    <p:restoredTop sz="94411"/>
  </p:normalViewPr>
  <p:slideViewPr>
    <p:cSldViewPr snapToGrid="0" showGuides="1">
      <p:cViewPr varScale="1">
        <p:scale>
          <a:sx n="86" d="100"/>
          <a:sy n="86" d="100"/>
        </p:scale>
        <p:origin x="542" y="45"/>
      </p:cViewPr>
      <p:guideLst>
        <p:guide pos="506"/>
        <p:guide orient="horz" pos="890"/>
        <p:guide orient="horz" pos="3861"/>
        <p:guide orient="horz" pos="1185"/>
        <p:guide pos="7174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tags" Target="tags/tag1.xml"/><Relationship Id="rId10" Type="http://schemas.openxmlformats.org/officeDocument/2006/relationships/tableStyles" Target="tableStyles.xml"/><Relationship Id="rId4" Type="http://schemas.openxmlformats.org/officeDocument/2006/relationships/handoutMaster" Target="handoutMasters/handout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F9B84EA-7D68-4D60-9CB1-D50884785D1C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OPPOSans R" panose="00020600040101010101" pitchFamily="18" charset="-122"/>
                <a:ea typeface="+mn-ea"/>
                <a:cs typeface="+mn-cs"/>
              </a:rPr>
              <a:t>2026/5/6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OPPOSans R" panose="00020600040101010101" pitchFamily="18" charset="-122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D4E0FC9-F1F8-4FAE-9988-3BA365CFD46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OPPOSans R" panose="00020600040101010101" pitchFamily="18" charset="-122"/>
                <a:ea typeface="+mn-ea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OPPOSans R" panose="00020600040101010101" pitchFamily="18" charset="-12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40975C-B837-4D6E-844D-7C645303B726}" type="datetimeFigureOut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rPr>
              <a:t>2026/5/6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rPr>
              <a:t>单击此处编辑母版文本样式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rPr>
              <a:t>二级</a:t>
            </a: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rPr>
              <a:t>三级</a:t>
            </a:r>
          </a:p>
          <a:p>
            <a:pPr marL="137160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rPr>
              <a:t>四级</a:t>
            </a:r>
          </a:p>
          <a:p>
            <a:pPr marL="1828800" marR="0" lvl="4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rPr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E84C2C-40E2-4F7A-AD16-1F4FF2C99AF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OPPOSans R" panose="00020600040101010101" pitchFamily="18" charset="-122"/>
        <a:ea typeface="OPPOSans R" panose="00020600040101010101" pitchFamily="18" charset="-122"/>
        <a:cs typeface="OPPOSans R" panose="00020600040101010101" pitchFamily="18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OPPOSans R" panose="00020600040101010101" pitchFamily="18" charset="-122"/>
        <a:ea typeface="OPPOSans R" panose="00020600040101010101" pitchFamily="18" charset="-122"/>
        <a:cs typeface="OPPOSans R" panose="00020600040101010101" pitchFamily="18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OPPOSans R" panose="00020600040101010101" pitchFamily="18" charset="-122"/>
        <a:ea typeface="OPPOSans R" panose="00020600040101010101" pitchFamily="18" charset="-122"/>
        <a:cs typeface="OPPOSans R" panose="00020600040101010101" pitchFamily="18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OPPOSans R" panose="00020600040101010101" pitchFamily="18" charset="-122"/>
        <a:ea typeface="OPPOSans R" panose="00020600040101010101" pitchFamily="18" charset="-122"/>
        <a:cs typeface="OPPOSans R" panose="00020600040101010101" pitchFamily="18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OPPOSans R" panose="00020600040101010101" pitchFamily="18" charset="-122"/>
        <a:ea typeface="OPPOSans R" panose="00020600040101010101" pitchFamily="18" charset="-122"/>
        <a:cs typeface="OPPOSans R" panose="00020600040101010101" pitchFamily="18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4" descr="图片2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175" y="185738"/>
            <a:ext cx="12192000" cy="66151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1" name="图片 5" descr="图片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5"/>
          <a:srcRect l="42068" r="26820" b="82516"/>
          <a:stretch>
            <a:fillRect/>
          </a:stretch>
        </p:blipFill>
        <p:spPr>
          <a:xfrm>
            <a:off x="6615113" y="187325"/>
            <a:ext cx="3873500" cy="1152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矩形 6"/>
          <p:cNvSpPr/>
          <p:nvPr/>
        </p:nvSpPr>
        <p:spPr>
          <a:xfrm>
            <a:off x="0" y="6261100"/>
            <a:ext cx="12192000" cy="5969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63500" dist="50800" dir="5400000" rotWithShape="0">
                  <a:srgbClr val="2B71FF">
                    <a:alpha val="30000"/>
                  </a:srgbClr>
                </a:outerShdw>
              </a:effectLst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2053" name="图片 7" descr="Group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5988050"/>
            <a:ext cx="12192000" cy="869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4" name="文本框 8"/>
          <p:cNvSpPr txBox="1"/>
          <p:nvPr userDrawn="1">
            <p:custDataLst>
              <p:tags r:id="rId3"/>
            </p:custDataLst>
          </p:nvPr>
        </p:nvSpPr>
        <p:spPr>
          <a:xfrm>
            <a:off x="1020763" y="182563"/>
            <a:ext cx="700563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buNone/>
            </a:pP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我们的学院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4" descr="图片2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175" y="187325"/>
            <a:ext cx="12192000" cy="66151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5" name="图片 5" descr="图片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5"/>
          <a:srcRect l="42068" r="26820" b="82516"/>
          <a:stretch>
            <a:fillRect/>
          </a:stretch>
        </p:blipFill>
        <p:spPr>
          <a:xfrm>
            <a:off x="6615113" y="187325"/>
            <a:ext cx="3873500" cy="1152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矩形 6"/>
          <p:cNvSpPr/>
          <p:nvPr/>
        </p:nvSpPr>
        <p:spPr>
          <a:xfrm>
            <a:off x="0" y="6261100"/>
            <a:ext cx="12192000" cy="5969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63500" dist="50800" dir="5400000" rotWithShape="0">
                  <a:srgbClr val="2B71FF">
                    <a:alpha val="30000"/>
                  </a:srgbClr>
                </a:outerShdw>
              </a:effectLst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3077" name="图片 7" descr="Group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5988050"/>
            <a:ext cx="12192000" cy="869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8" name="文本框 8"/>
          <p:cNvSpPr txBox="1"/>
          <p:nvPr userDrawn="1">
            <p:custDataLst>
              <p:tags r:id="rId3"/>
            </p:custDataLst>
          </p:nvPr>
        </p:nvSpPr>
        <p:spPr>
          <a:xfrm>
            <a:off x="1020763" y="182563"/>
            <a:ext cx="700563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buNone/>
            </a:pP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结束语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4" descr="图片2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175" y="187325"/>
            <a:ext cx="12192000" cy="66151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099" name="图片 5" descr="图片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5"/>
          <a:srcRect l="42068" r="26820" b="82516"/>
          <a:stretch>
            <a:fillRect/>
          </a:stretch>
        </p:blipFill>
        <p:spPr>
          <a:xfrm>
            <a:off x="6615113" y="187325"/>
            <a:ext cx="3873500" cy="1152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矩形 6"/>
          <p:cNvSpPr/>
          <p:nvPr/>
        </p:nvSpPr>
        <p:spPr>
          <a:xfrm>
            <a:off x="0" y="6261100"/>
            <a:ext cx="12192000" cy="5969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63500" dist="50800" dir="5400000" rotWithShape="0">
                  <a:srgbClr val="2B71FF">
                    <a:alpha val="30000"/>
                  </a:srgbClr>
                </a:outerShdw>
              </a:effectLst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4101" name="图片 7" descr="Group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5988050"/>
            <a:ext cx="12192000" cy="869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02" name="文本框 8"/>
          <p:cNvSpPr txBox="1"/>
          <p:nvPr userDrawn="1">
            <p:custDataLst>
              <p:tags r:id="rId3"/>
            </p:custDataLst>
          </p:nvPr>
        </p:nvSpPr>
        <p:spPr>
          <a:xfrm>
            <a:off x="1020763" y="182563"/>
            <a:ext cx="700563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buNone/>
            </a:pP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   一体化管理软件的发展趋势与挑战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图片 4" descr="图片2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175" y="187325"/>
            <a:ext cx="12192000" cy="66151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23" name="图片 5" descr="图片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5"/>
          <a:srcRect l="42068" r="26820" b="82516"/>
          <a:stretch>
            <a:fillRect/>
          </a:stretch>
        </p:blipFill>
        <p:spPr>
          <a:xfrm>
            <a:off x="6615113" y="187325"/>
            <a:ext cx="3873500" cy="1152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矩形 6"/>
          <p:cNvSpPr/>
          <p:nvPr/>
        </p:nvSpPr>
        <p:spPr>
          <a:xfrm>
            <a:off x="0" y="6261100"/>
            <a:ext cx="12192000" cy="5969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63500" dist="50800" dir="5400000" rotWithShape="0">
                  <a:srgbClr val="2B71FF">
                    <a:alpha val="30000"/>
                  </a:srgbClr>
                </a:outerShdw>
              </a:effectLst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5125" name="图片 7" descr="Group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5988050"/>
            <a:ext cx="12192000" cy="869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6" name="文本框 8"/>
          <p:cNvSpPr txBox="1"/>
          <p:nvPr userDrawn="1">
            <p:custDataLst>
              <p:tags r:id="rId3"/>
            </p:custDataLst>
          </p:nvPr>
        </p:nvSpPr>
        <p:spPr>
          <a:xfrm>
            <a:off x="1020763" y="182563"/>
            <a:ext cx="700563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>
              <a:buNone/>
            </a:pP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   一体化管理软件的整体思路与部署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图片 4" descr="图片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47" name="图片 5" descr="Group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5988050"/>
            <a:ext cx="12192000" cy="8699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148" name="图片 6" descr="Group"/>
          <p:cNvPicPr>
            <a:picLocks noChangeAspect="1"/>
          </p:cNvPicPr>
          <p:nvPr userDrawn="1"/>
        </p:nvPicPr>
        <p:blipFill>
          <a:blip r:embed="rId4"/>
          <a:srcRect l="5299"/>
          <a:stretch>
            <a:fillRect/>
          </a:stretch>
        </p:blipFill>
        <p:spPr>
          <a:xfrm>
            <a:off x="0" y="0"/>
            <a:ext cx="12192000" cy="7397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" name="图片 7" descr="F12-1"/>
          <p:cNvPicPr>
            <a:picLocks noChangeAspect="1"/>
          </p:cNvPicPr>
          <p:nvPr/>
        </p:nvPicPr>
        <p:blipFill rotWithShape="1">
          <a:blip r:embed="rId5">
            <a:alphaModFix amt="20000"/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l="7920" r="12196" b="14606"/>
          <a:stretch>
            <a:fillRect/>
          </a:stretch>
        </p:blipFill>
        <p:spPr>
          <a:xfrm>
            <a:off x="0" y="3120095"/>
            <a:ext cx="12192000" cy="3737906"/>
          </a:xfrm>
          <a:prstGeom prst="rect">
            <a:avLst/>
          </a:prstGeom>
          <a:ln>
            <a:noFill/>
          </a:ln>
          <a:effectLst>
            <a:reflection stA="45000" endPos="65000" dist="50800" dir="5400000" sy="-100000" algn="bl" rotWithShape="0"/>
            <a:softEdge rad="1079500"/>
          </a:effectLst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图片 4" descr="图片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1" name="图片 5" descr="Group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5988050"/>
            <a:ext cx="12192000" cy="8699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2" name="图片 6" descr="Group"/>
          <p:cNvPicPr>
            <a:picLocks noChangeAspect="1"/>
          </p:cNvPicPr>
          <p:nvPr userDrawn="1"/>
        </p:nvPicPr>
        <p:blipFill>
          <a:blip r:embed="rId4"/>
          <a:srcRect l="5299"/>
          <a:stretch>
            <a:fillRect/>
          </a:stretch>
        </p:blipFill>
        <p:spPr>
          <a:xfrm>
            <a:off x="0" y="0"/>
            <a:ext cx="12192000" cy="7397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1" descr="图片1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 descr="Path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12192000" cy="711200"/>
          </a:xfrm>
          <a:prstGeom prst="rect">
            <a:avLst/>
          </a:prstGeom>
        </p:spPr>
      </p:pic>
      <p:pic>
        <p:nvPicPr>
          <p:cNvPr id="1028" name="图片 3" descr="Group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0" y="5988050"/>
            <a:ext cx="12192000" cy="86995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文本框 2"/>
          <p:cNvSpPr txBox="1"/>
          <p:nvPr/>
        </p:nvSpPr>
        <p:spPr>
          <a:xfrm>
            <a:off x="683748" y="1163668"/>
            <a:ext cx="10952692" cy="12954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just" eaLnBrk="1" hangingPunct="1">
              <a:lnSpc>
                <a:spcPct val="1350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合肥工业大学管理学院围绕国家重大需求，紧跟国际发展前沿，在优化决策理论与智能科学技术、高端装备智能制造工程管理、卫星与无人机编队管理、数字商务科学与技术、医联网与智能医疗机器人、智慧能源环境管理等多个领域取得了一系列成果。</a:t>
            </a:r>
            <a:endParaRPr lang="en-US" altLang="zh-CN" sz="20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6325994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jb3VudCI6MywiaGRpZCI6IjMxMDUzOTc2MDA0YzM5MGU1ZGY2Njg5MDBiMTRlNDk1IiwidXNlckNvdW50Ijoz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800,&quot;width&quot;:19200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800,&quot;width&quot;:19200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800,&quot;width&quot;:19200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800,&quot;width&quot;:19200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800,&quot;width&quot;:19200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800,&quot;width&quot;:19200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800,&quot;width&quot;:19200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800,&quot;width&quot;:19200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主题5">
  <a:themeElements>
    <a:clrScheme name="稿定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173E9B"/>
      </a:accent1>
      <a:accent2>
        <a:srgbClr val="0081CB"/>
      </a:accent2>
      <a:accent3>
        <a:srgbClr val="2BB7EF"/>
      </a:accent3>
      <a:accent4>
        <a:srgbClr val="888888"/>
      </a:accent4>
      <a:accent5>
        <a:srgbClr val="A9A9A9"/>
      </a:accent5>
      <a:accent6>
        <a:srgbClr val="C9C9C9"/>
      </a:accent6>
      <a:hlink>
        <a:srgbClr val="4472C4"/>
      </a:hlink>
      <a:folHlink>
        <a:srgbClr val="BFBFBF"/>
      </a:folHlink>
    </a:clrScheme>
    <a:fontScheme name="稿定模板">
      <a:majorFont>
        <a:latin typeface="OPPOSans H"/>
        <a:ea typeface="OPPOSans H"/>
        <a:cs typeface=""/>
      </a:majorFont>
      <a:minorFont>
        <a:latin typeface="OPPOSans R"/>
        <a:ea typeface="OPPOSans 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1">
                <a:lumMod val="50000"/>
                <a:lumOff val="50000"/>
              </a:schemeClr>
            </a:gs>
            <a:gs pos="70000">
              <a:schemeClr val="accent1"/>
            </a:gs>
          </a:gsLst>
          <a:lin ang="5400000" scaled="1"/>
          <a:tileRect/>
        </a:gradFill>
        <a:ln w="12700" cap="flat" cmpd="sng" algn="ctr">
          <a:noFill/>
          <a:prstDash val="solid"/>
          <a:miter lim="800000"/>
        </a:ln>
        <a:effectLst>
          <a:outerShdw blurRad="254000" dist="127000" rotWithShape="0">
            <a:schemeClr val="accent1">
              <a:lumMod val="60000"/>
              <a:lumOff val="40000"/>
              <a:alpha val="32000"/>
            </a:schemeClr>
          </a:outerShdw>
        </a:effectLst>
      </a:spPr>
      <a:bodyPr rtlCol="0" anchor="ctr"/>
      <a:lstStyle>
        <a:defPPr marL="0" marR="0" indent="0" algn="ctr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kern="1200" cap="none" spc="0" normalizeH="0" baseline="0" noProof="0">
            <a:ln>
              <a:noFill/>
            </a:ln>
            <a:solidFill>
              <a:srgbClr val="FFFFFF"/>
            </a:solidFill>
            <a:effectLst>
              <a:outerShdw blurRad="63500" dist="50800" dir="5400000" rotWithShape="0">
                <a:srgbClr val="2B71FF">
                  <a:alpha val="30000"/>
                </a:srgbClr>
              </a:outerShdw>
            </a:effectLst>
            <a:uLnTx/>
            <a:uFillTx/>
            <a:latin typeface="等线" panose="02010600030101010101" pitchFamily="2" charset="-122"/>
            <a:ea typeface="等线" panose="02010600030101010101" pitchFamily="2" charset="-122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sq">
          <a:gradFill>
            <a:gsLst>
              <a:gs pos="0">
                <a:schemeClr val="accent1">
                  <a:lumMod val="50000"/>
                  <a:lumOff val="50000"/>
                </a:schemeClr>
              </a:gs>
              <a:gs pos="70000">
                <a:schemeClr val="accent1"/>
              </a:gs>
            </a:gsLst>
            <a:lin ang="5400000" scaled="0"/>
          </a:gra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OPPOSans R"/>
        <a:ea typeface=""/>
        <a:cs typeface=""/>
        <a:font script="Jpan" typeface="游ゴシック"/>
        <a:font script="Hang" typeface="맑은 고딕"/>
        <a:font script="Hans" typeface="OPPOSans R"/>
        <a:font script="Hant" typeface="新細明體"/>
        <a:font script="Arab" typeface="OPPOSans R"/>
        <a:font script="Hebr" typeface="OPPOSans R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OPPOSans R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OPPOSans R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OPPOSans R"/>
        <a:ea typeface=""/>
        <a:cs typeface=""/>
        <a:font script="Jpan" typeface="ＭＳ Ｐゴシック"/>
        <a:font script="Hang" typeface="맑은 고딕"/>
        <a:font script="Hans" typeface="OPPOSans R"/>
        <a:font script="Hant" typeface="新細明體"/>
        <a:font script="Arab" typeface="OPPOSans R"/>
        <a:font script="Hebr" typeface="OPPOSans R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OPPOSans R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57</Words>
  <Application>Microsoft Office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OPPOSans R</vt:lpstr>
      <vt:lpstr>等线</vt:lpstr>
      <vt:lpstr>微软雅黑</vt:lpstr>
      <vt:lpstr>Arial</vt:lpstr>
      <vt:lpstr>1_主题5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Maria Briggs</dc:creator>
  <cp:lastModifiedBy>Bin Chen</cp:lastModifiedBy>
  <cp:revision>1354</cp:revision>
  <dcterms:created xsi:type="dcterms:W3CDTF">2023-05-30T01:32:00Z</dcterms:created>
  <dcterms:modified xsi:type="dcterms:W3CDTF">2026-05-06T20:38:37Z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F4445D2B555047B7A351ACC75B1127AE_12</vt:lpwstr>
  </property>
  <property fmtid="{D5CDD505-2E9C-101B-9397-08002B2CF9AE}" pid="3" name="KSOProductBuildVer">
    <vt:lpwstr>2052-12.1.0.17147</vt:lpwstr>
  </property>
  <property fmtid="{D5CDD505-2E9C-101B-9397-08002B2CF9AE}" pid="4" name="KSOTemplateUUID">
    <vt:lpwstr>v1.0_mb_QdbRftb/n2ULY/S2bhcYgA==</vt:lpwstr>
  </property>
</Properties>
</file>